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IBM Plex Sans"/>
      <p:regular r:id="rId26"/>
      <p:bold r:id="rId27"/>
      <p:italic r:id="rId28"/>
      <p:boldItalic r:id="rId29"/>
    </p:embeddedFont>
    <p:embeddedFont>
      <p:font typeface="Sora SemiBold"/>
      <p:regular r:id="rId30"/>
      <p:bold r:id="rId31"/>
    </p:embeddedFont>
    <p:embeddedFont>
      <p:font typeface="IBM Plex Sans Medium"/>
      <p:regular r:id="rId32"/>
      <p:bold r:id="rId33"/>
      <p:italic r:id="rId34"/>
      <p:boldItalic r:id="rId35"/>
    </p:embeddedFont>
    <p:embeddedFont>
      <p:font typeface="Sora Light"/>
      <p:regular r:id="rId36"/>
      <p:bold r:id="rId37"/>
    </p:embeddedFont>
    <p:embeddedFont>
      <p:font typeface="Sora ExtraLight"/>
      <p:regular r:id="rId38"/>
      <p:bold r:id="rId39"/>
    </p:embeddedFont>
    <p:embeddedFont>
      <p:font typeface="Sora"/>
      <p:regular r:id="rId40"/>
      <p:bold r:id="rId41"/>
    </p:embeddedFont>
    <p:embeddedFont>
      <p:font typeface="Sora Medium"/>
      <p:regular r:id="rId42"/>
      <p:bold r:id="rId43"/>
    </p:embeddedFont>
    <p:embeddedFont>
      <p:font typeface="IBM Plex Sans SemiBol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-regular.fntdata"/><Relationship Id="rId42" Type="http://schemas.openxmlformats.org/officeDocument/2006/relationships/font" Target="fonts/SoraMedium-regular.fntdata"/><Relationship Id="rId41" Type="http://schemas.openxmlformats.org/officeDocument/2006/relationships/font" Target="fonts/Sora-bold.fntdata"/><Relationship Id="rId44" Type="http://schemas.openxmlformats.org/officeDocument/2006/relationships/font" Target="fonts/IBMPlexSansSemiBold-regular.fntdata"/><Relationship Id="rId43" Type="http://schemas.openxmlformats.org/officeDocument/2006/relationships/font" Target="fonts/SoraMedium-bold.fntdata"/><Relationship Id="rId46" Type="http://schemas.openxmlformats.org/officeDocument/2006/relationships/font" Target="fonts/IBMPlexSansSemiBold-italic.fntdata"/><Relationship Id="rId45" Type="http://schemas.openxmlformats.org/officeDocument/2006/relationships/font" Target="fonts/IBMPlexSa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font" Target="fonts/IBMPlex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SemiBold-bold.fntdata"/><Relationship Id="rId30" Type="http://schemas.openxmlformats.org/officeDocument/2006/relationships/font" Target="fonts/SoraSemiBold-regular.fntdata"/><Relationship Id="rId33" Type="http://schemas.openxmlformats.org/officeDocument/2006/relationships/font" Target="fonts/IBMPlexSansMedium-bold.fntdata"/><Relationship Id="rId32" Type="http://schemas.openxmlformats.org/officeDocument/2006/relationships/font" Target="fonts/IBMPlexSansMedium-regular.fntdata"/><Relationship Id="rId35" Type="http://schemas.openxmlformats.org/officeDocument/2006/relationships/font" Target="fonts/IBMPlexSansMedium-boldItalic.fntdata"/><Relationship Id="rId34" Type="http://schemas.openxmlformats.org/officeDocument/2006/relationships/font" Target="fonts/IBMPlexSansMedium-italic.fntdata"/><Relationship Id="rId37" Type="http://schemas.openxmlformats.org/officeDocument/2006/relationships/font" Target="fonts/SoraLight-bold.fntdata"/><Relationship Id="rId36" Type="http://schemas.openxmlformats.org/officeDocument/2006/relationships/font" Target="fonts/SoraLight-regular.fntdata"/><Relationship Id="rId39" Type="http://schemas.openxmlformats.org/officeDocument/2006/relationships/font" Target="fonts/SoraExtraLight-bold.fntdata"/><Relationship Id="rId38" Type="http://schemas.openxmlformats.org/officeDocument/2006/relationships/font" Target="fonts/SoraExtra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IBMPlexSans-regular.fntdata"/><Relationship Id="rId25" Type="http://schemas.openxmlformats.org/officeDocument/2006/relationships/slide" Target="slides/slide20.xml"/><Relationship Id="rId28" Type="http://schemas.openxmlformats.org/officeDocument/2006/relationships/font" Target="fonts/IBMPlexSans-italic.fntdata"/><Relationship Id="rId27" Type="http://schemas.openxmlformats.org/officeDocument/2006/relationships/font" Target="fonts/IBMPlexSans-bold.fntdata"/><Relationship Id="rId29" Type="http://schemas.openxmlformats.org/officeDocument/2006/relationships/font" Target="fonts/IBMPlex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88709c42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88709c42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809913552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809913552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809913552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809913552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7de8dd1f06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7de8dd1f06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7e5da537b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7e5da537b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88709c429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88709c429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7e5da537b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7e5da537b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dc3bc5c7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dc3bc5c7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7e5da537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7e5da537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7e5da537b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7e5da537b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80da5789d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80da5789d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80da5789d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80da5789d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80da5789d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80da5789d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7de8dd1f06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7de8dd1f0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88709c429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88709c429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80cf2f3aa4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80cf2f3aa4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80cf2f3aa4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80cf2f3aa4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809913552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809913552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809913552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809913552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809913552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809913552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figma.com/design/B0JaiRGg4P9umn4KjFWQbz/Untitled?node-id=0-1&amp;t=iwOYsN2jvSKEar4c-1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74600" y="1724275"/>
            <a:ext cx="5876700" cy="26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Web Application for Restaurant Roll Call Staff Management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2"/>
          <p:cNvSpPr txBox="1"/>
          <p:nvPr>
            <p:ph type="title"/>
          </p:nvPr>
        </p:nvSpPr>
        <p:spPr>
          <a:xfrm>
            <a:off x="228600" y="563475"/>
            <a:ext cx="3577200" cy="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Team Members</a:t>
            </a:r>
            <a:endParaRPr u="sng"/>
          </a:p>
        </p:txBody>
      </p:sp>
      <p:sp>
        <p:nvSpPr>
          <p:cNvPr id="894" name="Google Shape;894;p52"/>
          <p:cNvSpPr txBox="1"/>
          <p:nvPr>
            <p:ph idx="1" type="subTitle"/>
          </p:nvPr>
        </p:nvSpPr>
        <p:spPr>
          <a:xfrm>
            <a:off x="291475" y="1247375"/>
            <a:ext cx="3759600" cy="30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Brendan Maska - Leader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Quincy Adamski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Adarsh Bains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Carmen Cruz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Shine Zaw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95" name="Google Shape;895;p52"/>
          <p:cNvSpPr txBox="1"/>
          <p:nvPr>
            <p:ph type="title"/>
          </p:nvPr>
        </p:nvSpPr>
        <p:spPr>
          <a:xfrm>
            <a:off x="4876275" y="563475"/>
            <a:ext cx="3577200" cy="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Project Advisor</a:t>
            </a:r>
            <a:endParaRPr u="sng"/>
          </a:p>
        </p:txBody>
      </p:sp>
      <p:sp>
        <p:nvSpPr>
          <p:cNvPr id="896" name="Google Shape;896;p52"/>
          <p:cNvSpPr txBox="1"/>
          <p:nvPr>
            <p:ph idx="1" type="subTitle"/>
          </p:nvPr>
        </p:nvSpPr>
        <p:spPr>
          <a:xfrm>
            <a:off x="4923000" y="1306075"/>
            <a:ext cx="3759600" cy="10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Dr. Chen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4876275" y="2689650"/>
            <a:ext cx="3577200" cy="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Project Sponsor</a:t>
            </a:r>
            <a:endParaRPr u="sng"/>
          </a:p>
        </p:txBody>
      </p:sp>
      <p:sp>
        <p:nvSpPr>
          <p:cNvPr id="898" name="Google Shape;898;p52"/>
          <p:cNvSpPr txBox="1"/>
          <p:nvPr>
            <p:ph idx="1" type="subTitle"/>
          </p:nvPr>
        </p:nvSpPr>
        <p:spPr>
          <a:xfrm>
            <a:off x="4923000" y="3404550"/>
            <a:ext cx="3759600" cy="14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Tricia Jakacky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Shift Solutions LLC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3"/>
          <p:cNvSpPr txBox="1"/>
          <p:nvPr>
            <p:ph type="title"/>
          </p:nvPr>
        </p:nvSpPr>
        <p:spPr>
          <a:xfrm>
            <a:off x="107100" y="820950"/>
            <a:ext cx="4445400" cy="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Purpose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4"/>
          <p:cNvSpPr txBox="1"/>
          <p:nvPr>
            <p:ph type="title"/>
          </p:nvPr>
        </p:nvSpPr>
        <p:spPr>
          <a:xfrm>
            <a:off x="0" y="714700"/>
            <a:ext cx="65070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 </a:t>
            </a:r>
            <a:endParaRPr/>
          </a:p>
        </p:txBody>
      </p:sp>
      <p:sp>
        <p:nvSpPr>
          <p:cNvPr id="909" name="Google Shape;909;p54"/>
          <p:cNvSpPr txBox="1"/>
          <p:nvPr>
            <p:ph idx="1" type="subTitle"/>
          </p:nvPr>
        </p:nvSpPr>
        <p:spPr>
          <a:xfrm>
            <a:off x="228600" y="1098725"/>
            <a:ext cx="3759600" cy="35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 </a:t>
            </a:r>
            <a:r>
              <a:rPr lang="en"/>
              <a:t>college student</a:t>
            </a:r>
            <a:r>
              <a:rPr lang="en"/>
              <a:t>, I want to be able to find work that fits within my schedule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an older person, I want to find work without overly complicated technology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 restaurant owner, I want to be able to find people to work staffing gaps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 manager, I want to save my favorite workers, so I can invite them for future openings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 worker, I want to receive notifications about open shifts near me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 restaurant owner, I want to find workers that have a high rating and are dependable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 worker, I want to see the pay and time of the shift before applying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4"/>
          <p:cNvSpPr txBox="1"/>
          <p:nvPr/>
        </p:nvSpPr>
        <p:spPr>
          <a:xfrm>
            <a:off x="3988200" y="1637550"/>
            <a:ext cx="4784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As a user, I want to have an interface that is simple and quick to use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As a restaurant owner, I want an interface that is simple and intuitive 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As a user, I want to be sure that this app keeps my data secure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5"/>
          <p:cNvSpPr txBox="1"/>
          <p:nvPr>
            <p:ph type="title"/>
          </p:nvPr>
        </p:nvSpPr>
        <p:spPr>
          <a:xfrm>
            <a:off x="91850" y="60225"/>
            <a:ext cx="2882400" cy="22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Client </a:t>
            </a:r>
            <a:r>
              <a:rPr lang="en" sz="4400"/>
              <a:t>Use Case Diagram</a:t>
            </a:r>
            <a:endParaRPr sz="4400"/>
          </a:p>
        </p:txBody>
      </p:sp>
      <p:pic>
        <p:nvPicPr>
          <p:cNvPr id="916" name="Google Shape;91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069" y="0"/>
            <a:ext cx="516933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6"/>
          <p:cNvSpPr txBox="1"/>
          <p:nvPr>
            <p:ph type="title"/>
          </p:nvPr>
        </p:nvSpPr>
        <p:spPr>
          <a:xfrm>
            <a:off x="91850" y="60225"/>
            <a:ext cx="2882400" cy="22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Server </a:t>
            </a:r>
            <a:r>
              <a:rPr lang="en" sz="4400"/>
              <a:t>Use Case Diagram</a:t>
            </a:r>
            <a:endParaRPr sz="4400"/>
          </a:p>
        </p:txBody>
      </p:sp>
      <p:pic>
        <p:nvPicPr>
          <p:cNvPr id="922" name="Google Shape;92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160" y="0"/>
            <a:ext cx="434684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7"/>
          <p:cNvSpPr txBox="1"/>
          <p:nvPr>
            <p:ph type="title"/>
          </p:nvPr>
        </p:nvSpPr>
        <p:spPr>
          <a:xfrm>
            <a:off x="91850" y="60225"/>
            <a:ext cx="2882400" cy="22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Super User </a:t>
            </a:r>
            <a:r>
              <a:rPr lang="en" sz="4400"/>
              <a:t>Use Case Diagram</a:t>
            </a:r>
            <a:endParaRPr sz="4400"/>
          </a:p>
        </p:txBody>
      </p:sp>
      <p:pic>
        <p:nvPicPr>
          <p:cNvPr id="928" name="Google Shape;92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525" y="0"/>
            <a:ext cx="6044475" cy="44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8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</a:t>
            </a:r>
            <a:r>
              <a:rPr lang="en"/>
              <a:t>equirements</a:t>
            </a:r>
            <a:r>
              <a:rPr lang="en"/>
              <a:t> by Role</a:t>
            </a:r>
            <a:endParaRPr/>
          </a:p>
        </p:txBody>
      </p:sp>
      <p:sp>
        <p:nvSpPr>
          <p:cNvPr id="934" name="Google Shape;934;p58"/>
          <p:cNvSpPr txBox="1"/>
          <p:nvPr>
            <p:ph idx="3" type="title"/>
          </p:nvPr>
        </p:nvSpPr>
        <p:spPr>
          <a:xfrm>
            <a:off x="115025" y="14065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the super user, I can</a:t>
            </a:r>
            <a:endParaRPr/>
          </a:p>
        </p:txBody>
      </p:sp>
      <p:sp>
        <p:nvSpPr>
          <p:cNvPr id="935" name="Google Shape;935;p58"/>
          <p:cNvSpPr txBox="1"/>
          <p:nvPr>
            <p:ph idx="1" type="body"/>
          </p:nvPr>
        </p:nvSpPr>
        <p:spPr>
          <a:xfrm>
            <a:off x="115025" y="1684100"/>
            <a:ext cx="5160600" cy="2483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Sign up / log in with 2FA so that my access to the admin portal is secure.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Review user feedback so that I can identify issues and improve the platform.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Review or remove servers/client accounts so that only legitimate and active clients remain on the system.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Maintain the service so that the platform remains reliable and trusted.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9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Requirements by Role</a:t>
            </a:r>
            <a:endParaRPr/>
          </a:p>
        </p:txBody>
      </p:sp>
      <p:sp>
        <p:nvSpPr>
          <p:cNvPr id="941" name="Google Shape;941;p59"/>
          <p:cNvSpPr txBox="1"/>
          <p:nvPr>
            <p:ph idx="4" type="title"/>
          </p:nvPr>
        </p:nvSpPr>
        <p:spPr>
          <a:xfrm>
            <a:off x="228600" y="13758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the client, I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59"/>
          <p:cNvSpPr txBox="1"/>
          <p:nvPr>
            <p:ph idx="7" type="body"/>
          </p:nvPr>
        </p:nvSpPr>
        <p:spPr>
          <a:xfrm>
            <a:off x="228600" y="1588575"/>
            <a:ext cx="7482900" cy="2483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Sign up / log in with 2FA so my account is secure and only I can access the client portal.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Complete my profile (business info, .etc), select a subscription plan, and set staff preferences so the portal reflects my restaurant’s specific needs. 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Upload layouts / training videos so temporary staff can onboard faster.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Post shifts with details (role, time, pay, requirements) so I can fill vacancies.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Review applicants and confirm one so my shift is covered.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0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Requirements by Role</a:t>
            </a:r>
            <a:endParaRPr/>
          </a:p>
        </p:txBody>
      </p:sp>
      <p:sp>
        <p:nvSpPr>
          <p:cNvPr id="948" name="Google Shape;948;p60"/>
          <p:cNvSpPr txBox="1"/>
          <p:nvPr>
            <p:ph idx="5" type="title"/>
          </p:nvPr>
        </p:nvSpPr>
        <p:spPr>
          <a:xfrm>
            <a:off x="228600" y="1406500"/>
            <a:ext cx="1834500" cy="273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the server, I can</a:t>
            </a:r>
            <a:endParaRPr/>
          </a:p>
        </p:txBody>
      </p:sp>
      <p:sp>
        <p:nvSpPr>
          <p:cNvPr id="949" name="Google Shape;949;p60"/>
          <p:cNvSpPr txBox="1"/>
          <p:nvPr>
            <p:ph idx="9" type="body"/>
          </p:nvPr>
        </p:nvSpPr>
        <p:spPr>
          <a:xfrm>
            <a:off x="228600" y="1623900"/>
            <a:ext cx="5700000" cy="23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Sign up / log in with 2FA so my account is secure and only </a:t>
            </a:r>
            <a:r>
              <a:rPr lang="en" sz="1500"/>
              <a:t>I can access the server platform.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Create a profile where I can submit my verification documents, complete interactive training, get a tier rating, and complete compliance checks so employers are able to evaluate me.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Browse and apply for shifts so I can find work.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See confirmed shifts so I know I’m scheduled.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1"/>
          <p:cNvSpPr txBox="1"/>
          <p:nvPr>
            <p:ph idx="3" type="title"/>
          </p:nvPr>
        </p:nvSpPr>
        <p:spPr>
          <a:xfrm>
            <a:off x="115025" y="18954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 User</a:t>
            </a:r>
            <a:endParaRPr sz="2400"/>
          </a:p>
        </p:txBody>
      </p:sp>
      <p:sp>
        <p:nvSpPr>
          <p:cNvPr id="955" name="Google Shape;955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1"/>
          <p:cNvSpPr txBox="1"/>
          <p:nvPr>
            <p:ph idx="2" type="title"/>
          </p:nvPr>
        </p:nvSpPr>
        <p:spPr>
          <a:xfrm>
            <a:off x="115025" y="502775"/>
            <a:ext cx="605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Role-Specific Requirements</a:t>
            </a:r>
            <a:endParaRPr/>
          </a:p>
        </p:txBody>
      </p:sp>
      <p:sp>
        <p:nvSpPr>
          <p:cNvPr id="957" name="Google Shape;957;p61"/>
          <p:cNvSpPr txBox="1"/>
          <p:nvPr>
            <p:ph idx="1" type="body"/>
          </p:nvPr>
        </p:nvSpPr>
        <p:spPr>
          <a:xfrm>
            <a:off x="115025" y="2487475"/>
            <a:ext cx="6055500" cy="22875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Maintain the service to ensure reliability and trust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Review user feedback to improve the platform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Remove or review accounts to keep the system legitimate and active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2"/>
          <p:cNvSpPr txBox="1"/>
          <p:nvPr>
            <p:ph idx="3" type="title"/>
          </p:nvPr>
        </p:nvSpPr>
        <p:spPr>
          <a:xfrm>
            <a:off x="115025" y="1895400"/>
            <a:ext cx="64377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Client (Restaurant Owner/ Manager)</a:t>
            </a:r>
            <a:endParaRPr sz="2400"/>
          </a:p>
        </p:txBody>
      </p:sp>
      <p:sp>
        <p:nvSpPr>
          <p:cNvPr id="963" name="Google Shape;963;p6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2"/>
          <p:cNvSpPr txBox="1"/>
          <p:nvPr>
            <p:ph idx="2" type="title"/>
          </p:nvPr>
        </p:nvSpPr>
        <p:spPr>
          <a:xfrm>
            <a:off x="115025" y="502775"/>
            <a:ext cx="605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Role-Specific Requirements</a:t>
            </a:r>
            <a:endParaRPr/>
          </a:p>
        </p:txBody>
      </p:sp>
      <p:sp>
        <p:nvSpPr>
          <p:cNvPr id="965" name="Google Shape;965;p62"/>
          <p:cNvSpPr txBox="1"/>
          <p:nvPr>
            <p:ph idx="1" type="body"/>
          </p:nvPr>
        </p:nvSpPr>
        <p:spPr>
          <a:xfrm>
            <a:off x="115025" y="2487475"/>
            <a:ext cx="6055500" cy="22875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Manage subscription plans and staff preferences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Upload restaurant layouts and training materials for faster onboarding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3"/>
          <p:cNvSpPr txBox="1"/>
          <p:nvPr>
            <p:ph idx="3" type="title"/>
          </p:nvPr>
        </p:nvSpPr>
        <p:spPr>
          <a:xfrm>
            <a:off x="115025" y="18954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Staff</a:t>
            </a:r>
            <a:endParaRPr sz="2400"/>
          </a:p>
        </p:txBody>
      </p:sp>
      <p:sp>
        <p:nvSpPr>
          <p:cNvPr id="971" name="Google Shape;971;p6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3"/>
          <p:cNvSpPr txBox="1"/>
          <p:nvPr>
            <p:ph idx="2" type="title"/>
          </p:nvPr>
        </p:nvSpPr>
        <p:spPr>
          <a:xfrm>
            <a:off x="115025" y="502775"/>
            <a:ext cx="605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Role-Specific Requirements</a:t>
            </a:r>
            <a:endParaRPr/>
          </a:p>
        </p:txBody>
      </p:sp>
      <p:sp>
        <p:nvSpPr>
          <p:cNvPr id="973" name="Google Shape;973;p63"/>
          <p:cNvSpPr txBox="1"/>
          <p:nvPr>
            <p:ph idx="1" type="body"/>
          </p:nvPr>
        </p:nvSpPr>
        <p:spPr>
          <a:xfrm>
            <a:off x="115025" y="2487475"/>
            <a:ext cx="6055500" cy="22875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Complete verification documents, interactive training, and compliance checks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Earn tier ratings to reflect performance and reliability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View/confirmation of scheduled shifts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4"/>
          <p:cNvSpPr txBox="1"/>
          <p:nvPr>
            <p:ph type="title"/>
          </p:nvPr>
        </p:nvSpPr>
        <p:spPr>
          <a:xfrm>
            <a:off x="84975" y="2286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979" name="Google Shape;979;p64"/>
          <p:cNvSpPr txBox="1"/>
          <p:nvPr>
            <p:ph idx="1" type="subTitle"/>
          </p:nvPr>
        </p:nvSpPr>
        <p:spPr>
          <a:xfrm>
            <a:off x="269999" y="895150"/>
            <a:ext cx="6293100" cy="39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The platform  let restaurants post open shifts with details like role, pay, and timing.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 Waiters can browse, filter, and apply for shifts.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 Both sides manage profiles, messaging, shift confirmations, and reviews. 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Payments, cancellations, and basic dispute resolution are also supported.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5"/>
          <p:cNvSpPr txBox="1"/>
          <p:nvPr>
            <p:ph type="title"/>
          </p:nvPr>
        </p:nvSpPr>
        <p:spPr>
          <a:xfrm>
            <a:off x="140375" y="228600"/>
            <a:ext cx="6507000" cy="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Requirements</a:t>
            </a:r>
            <a:endParaRPr/>
          </a:p>
        </p:txBody>
      </p:sp>
      <p:sp>
        <p:nvSpPr>
          <p:cNvPr id="985" name="Google Shape;985;p65"/>
          <p:cNvSpPr txBox="1"/>
          <p:nvPr>
            <p:ph idx="1" type="subTitle"/>
          </p:nvPr>
        </p:nvSpPr>
        <p:spPr>
          <a:xfrm>
            <a:off x="674170" y="1203189"/>
            <a:ext cx="6612900" cy="3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</a:rPr>
              <a:t>The stack includes </a:t>
            </a:r>
            <a:r>
              <a:rPr b="1" lang="en" sz="2000">
                <a:solidFill>
                  <a:srgbClr val="000000"/>
                </a:solidFill>
              </a:rPr>
              <a:t>Reactjs, TypeScript, Tailwind</a:t>
            </a:r>
            <a:r>
              <a:rPr lang="en" sz="2000">
                <a:solidFill>
                  <a:srgbClr val="000000"/>
                </a:solidFill>
              </a:rPr>
              <a:t>, Html for the UI, VS code IDE</a:t>
            </a:r>
            <a:endParaRPr sz="20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</a:rPr>
              <a:t>FastAPI</a:t>
            </a:r>
            <a:r>
              <a:rPr lang="en" sz="1800">
                <a:solidFill>
                  <a:srgbClr val="000000"/>
                </a:solidFill>
              </a:rPr>
              <a:t> for APIs, Github and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 </a:t>
            </a:r>
            <a:r>
              <a:rPr b="1" lang="en" sz="1800">
                <a:solidFill>
                  <a:srgbClr val="000000"/>
                </a:solidFill>
              </a:rPr>
              <a:t>PostgreSQL</a:t>
            </a:r>
            <a:r>
              <a:rPr lang="en" sz="1800">
                <a:solidFill>
                  <a:srgbClr val="000000"/>
                </a:solidFill>
              </a:rPr>
              <a:t> for structured data storage.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Secure authentication (JWT), role-based permissions, API versioning, input validation, and HTTPS. 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Python backend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Redis/ Celery  handle notifications and payouts.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6"/>
          <p:cNvSpPr txBox="1"/>
          <p:nvPr>
            <p:ph type="title"/>
          </p:nvPr>
        </p:nvSpPr>
        <p:spPr>
          <a:xfrm>
            <a:off x="84975" y="228600"/>
            <a:ext cx="65070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Risks</a:t>
            </a:r>
            <a:endParaRPr/>
          </a:p>
        </p:txBody>
      </p:sp>
      <p:sp>
        <p:nvSpPr>
          <p:cNvPr id="991" name="Google Shape;991;p66"/>
          <p:cNvSpPr txBox="1"/>
          <p:nvPr>
            <p:ph idx="1" type="subTitle"/>
          </p:nvPr>
        </p:nvSpPr>
        <p:spPr>
          <a:xfrm>
            <a:off x="238769" y="895150"/>
            <a:ext cx="6293100" cy="39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Technical Learning Curve - Team is new to React, FastAPI, and PostgreSQL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Integration</a:t>
            </a:r>
            <a:r>
              <a:rPr lang="en" sz="1700">
                <a:solidFill>
                  <a:srgbClr val="000000"/>
                </a:solidFill>
              </a:rPr>
              <a:t> Issues - Frontend, backend, and database may not connect smoothly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Security &amp; Data Privacy - Handling sign-ups and documents requires secure design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Time Management - Capstone runs alongside other classes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7"/>
          <p:cNvSpPr txBox="1"/>
          <p:nvPr>
            <p:ph type="title"/>
          </p:nvPr>
        </p:nvSpPr>
        <p:spPr>
          <a:xfrm>
            <a:off x="84975" y="2286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Goal</a:t>
            </a:r>
            <a:endParaRPr/>
          </a:p>
        </p:txBody>
      </p:sp>
      <p:sp>
        <p:nvSpPr>
          <p:cNvPr id="997" name="Google Shape;997;p67"/>
          <p:cNvSpPr txBox="1"/>
          <p:nvPr>
            <p:ph idx="1" type="subTitle"/>
          </p:nvPr>
        </p:nvSpPr>
        <p:spPr>
          <a:xfrm>
            <a:off x="191925" y="895150"/>
            <a:ext cx="6293100" cy="39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ora"/>
              <a:buChar char="●"/>
            </a:pPr>
            <a:r>
              <a:rPr lang="en" sz="1700">
                <a:solidFill>
                  <a:srgbClr val="000000"/>
                </a:solidFill>
              </a:rPr>
              <a:t>Build a functional demo web app with: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ora"/>
              <a:buAutoNum type="alphaLcPeriod"/>
            </a:pPr>
            <a:r>
              <a:rPr lang="en" sz="1700">
                <a:solidFill>
                  <a:srgbClr val="000000"/>
                </a:solidFill>
              </a:rPr>
              <a:t>Restaurant portal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ora"/>
              <a:buAutoNum type="alphaLcPeriod"/>
            </a:pPr>
            <a:r>
              <a:rPr lang="en" sz="1700">
                <a:solidFill>
                  <a:srgbClr val="000000"/>
                </a:solidFill>
              </a:rPr>
              <a:t>Staff portal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ora"/>
              <a:buAutoNum type="alphaLcPeriod"/>
            </a:pPr>
            <a:r>
              <a:rPr lang="en" sz="1700">
                <a:solidFill>
                  <a:srgbClr val="000000"/>
                </a:solidFill>
              </a:rPr>
              <a:t>Basic admin portal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ora"/>
              <a:buChar char="●"/>
            </a:pPr>
            <a:r>
              <a:rPr lang="en" sz="1700">
                <a:solidFill>
                  <a:srgbClr val="000000"/>
                </a:solidFill>
              </a:rPr>
              <a:t>Provide sponsor with an investor-ready demo to showcase the concept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ora"/>
              <a:buChar char="●"/>
            </a:pPr>
            <a:r>
              <a:rPr lang="en" sz="1700">
                <a:solidFill>
                  <a:srgbClr val="000000"/>
                </a:solidFill>
              </a:rPr>
              <a:t>Lay the foundation for future features(payments, background checks, mobile app)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8"/>
          <p:cNvSpPr txBox="1"/>
          <p:nvPr>
            <p:ph type="title"/>
          </p:nvPr>
        </p:nvSpPr>
        <p:spPr>
          <a:xfrm>
            <a:off x="29350" y="228600"/>
            <a:ext cx="65070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 </a:t>
            </a:r>
            <a:endParaRPr/>
          </a:p>
        </p:txBody>
      </p:sp>
      <p:sp>
        <p:nvSpPr>
          <p:cNvPr id="1003" name="Google Shape;1003;p68"/>
          <p:cNvSpPr txBox="1"/>
          <p:nvPr>
            <p:ph idx="1" type="subTitle"/>
          </p:nvPr>
        </p:nvSpPr>
        <p:spPr>
          <a:xfrm>
            <a:off x="78350" y="1063925"/>
            <a:ext cx="3759600" cy="15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Sprint 1 - 5 Weeks (Creating Sign on and Log in Portals + Landing Page)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Sprint 2 - 5 Weeks (TBD)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Sprint 3 - 4 Weeks (TBD) </a:t>
            </a:r>
            <a:endParaRPr sz="1500"/>
          </a:p>
        </p:txBody>
      </p:sp>
      <p:sp>
        <p:nvSpPr>
          <p:cNvPr id="1004" name="Google Shape;1004;p68"/>
          <p:cNvSpPr txBox="1"/>
          <p:nvPr>
            <p:ph idx="1" type="subTitle"/>
          </p:nvPr>
        </p:nvSpPr>
        <p:spPr>
          <a:xfrm>
            <a:off x="228600" y="2494625"/>
            <a:ext cx="3759600" cy="21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Meeting with Project Sponsor after every sprint to confirm progress 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Consistent communication with sponsor via email to confirm that the project is of quality 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9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  <p:sp>
        <p:nvSpPr>
          <p:cNvPr id="1010" name="Google Shape;1010;p69"/>
          <p:cNvSpPr txBox="1"/>
          <p:nvPr>
            <p:ph idx="1" type="body"/>
          </p:nvPr>
        </p:nvSpPr>
        <p:spPr>
          <a:xfrm>
            <a:off x="228600" y="1375950"/>
            <a:ext cx="4732800" cy="2483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accent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https://www.figma.com/design/B0JaiRGg4P9umn4KjFWQbz/Untitled?node-id=0-1&amp;t=iwOYsN2jvSKEar4c-1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0"/>
          <p:cNvSpPr txBox="1"/>
          <p:nvPr>
            <p:ph idx="2" type="title"/>
          </p:nvPr>
        </p:nvSpPr>
        <p:spPr>
          <a:xfrm>
            <a:off x="3650725" y="2230050"/>
            <a:ext cx="1381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